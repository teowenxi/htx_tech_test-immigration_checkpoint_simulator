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93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49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0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6186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8666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36913"/>
            <a:ext cx="10131425" cy="378981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095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488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531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713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084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32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060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383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69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031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7219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808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5349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9215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326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01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352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54EDF3-6A12-F067-B580-C7BD076F8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B37867-8FB2-D0F1-0A63-8730E5FDE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89388"/>
            <a:ext cx="10820399" cy="4698470"/>
          </a:xfrm>
        </p:spPr>
        <p:txBody>
          <a:bodyPr/>
          <a:lstStyle/>
          <a:p>
            <a:r>
              <a:rPr lang="en-US" sz="2000" dirty="0"/>
              <a:t>Multi-stage system: Security → Immigration → Exit </a:t>
            </a:r>
          </a:p>
          <a:p>
            <a:r>
              <a:rPr lang="en-US" sz="2000" dirty="0"/>
              <a:t>Objective: </a:t>
            </a:r>
            <a:r>
              <a:rPr lang="en-US" sz="2000" dirty="0" err="1"/>
              <a:t>Analyse</a:t>
            </a:r>
            <a:r>
              <a:rPr lang="en-US" sz="2000" dirty="0"/>
              <a:t> </a:t>
            </a:r>
            <a:r>
              <a:rPr lang="en-US" sz="2000" b="1" dirty="0"/>
              <a:t>throughput, congestion, and bottlenecks</a:t>
            </a:r>
            <a:r>
              <a:rPr lang="en-US" sz="2000" dirty="0"/>
              <a:t> </a:t>
            </a:r>
          </a:p>
          <a:p>
            <a:r>
              <a:rPr lang="en-US" sz="2000" dirty="0"/>
              <a:t>Key challenge: </a:t>
            </a:r>
          </a:p>
          <a:p>
            <a:pPr lvl="1"/>
            <a:r>
              <a:rPr lang="en-US" sz="1800" dirty="0"/>
              <a:t>Shared counters + First Come First Served (FCFS) queues </a:t>
            </a:r>
          </a:p>
          <a:p>
            <a:pPr lvl="1"/>
            <a:r>
              <a:rPr lang="en-US" sz="1800" dirty="0"/>
              <a:t>Probabilistic secondary inspections </a:t>
            </a:r>
          </a:p>
          <a:p>
            <a:pPr lvl="1"/>
            <a:r>
              <a:rPr lang="en-US" sz="1800" dirty="0"/>
              <a:t>Variable demand scenarios (Default / Holiday / High Risk) </a:t>
            </a:r>
          </a:p>
          <a:p>
            <a:pPr lvl="1"/>
            <a:endParaRPr lang="en-US" sz="1800" dirty="0"/>
          </a:p>
          <a:p>
            <a:r>
              <a:rPr lang="en-US" sz="2000" b="1" dirty="0"/>
              <a:t>Goal:</a:t>
            </a:r>
            <a:r>
              <a:rPr lang="en-US" sz="2000" dirty="0"/>
              <a:t> Identify system bottlenecks and evaluate performance under stress conditions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088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F933C-90C7-9E9C-633D-C4E43C998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79EEE2-1CBA-769A-5EF5-10FE3E6CF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design &amp; Assumptions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8E2193-D5E7-259D-DE18-4B6EF4152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94933"/>
            <a:ext cx="4863229" cy="445346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Frame-based, manager-driven simulation </a:t>
            </a:r>
          </a:p>
          <a:p>
            <a:r>
              <a:rPr lang="en-US" dirty="0"/>
              <a:t>Agent-based flow through discrete processing stages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Key assumptions:</a:t>
            </a:r>
            <a:endParaRPr lang="en-US" dirty="0"/>
          </a:p>
          <a:p>
            <a:pPr lvl="1"/>
            <a:r>
              <a:rPr lang="en-US" dirty="0"/>
              <a:t>Strict forward-only movement (no backtracking) </a:t>
            </a:r>
          </a:p>
          <a:p>
            <a:pPr lvl="1"/>
            <a:r>
              <a:rPr lang="en-US" dirty="0"/>
              <a:t>FCFS queues for primary stages </a:t>
            </a:r>
          </a:p>
          <a:p>
            <a:pPr lvl="1"/>
            <a:r>
              <a:rPr lang="en-US" dirty="0"/>
              <a:t>Shared service counters per checkpoint </a:t>
            </a:r>
          </a:p>
          <a:p>
            <a:pPr lvl="1"/>
            <a:r>
              <a:rPr lang="en-US" dirty="0"/>
              <a:t>Secondary inspections triggered probabilistically </a:t>
            </a:r>
          </a:p>
          <a:p>
            <a:pPr lvl="1"/>
            <a:r>
              <a:rPr lang="en-US" dirty="0"/>
              <a:t>No queue abandonment or impatience 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System structure:</a:t>
            </a:r>
            <a:endParaRPr lang="en-US" dirty="0"/>
          </a:p>
          <a:p>
            <a:pPr lvl="1"/>
            <a:r>
              <a:rPr lang="en-US" dirty="0"/>
              <a:t>Ordered queues → Security &amp; Immigration </a:t>
            </a:r>
          </a:p>
          <a:p>
            <a:pPr lvl="1"/>
            <a:r>
              <a:rPr lang="en-US" dirty="0"/>
              <a:t>Secondary queues → inspection areas </a:t>
            </a:r>
          </a:p>
          <a:p>
            <a:pPr lvl="1"/>
            <a:r>
              <a:rPr lang="en-US" dirty="0"/>
              <a:t>Push-based assignment to available counters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AE715F-5A3C-6964-E8B0-19FB5222D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512" y="2890120"/>
            <a:ext cx="5837373" cy="2263093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282466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C0DFC-AB04-79CB-DB00-7B69D9118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System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2D9A0-472A-B5DA-2606-F2345F285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936913"/>
            <a:ext cx="4794336" cy="378981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System remains stable under moderate demand </a:t>
            </a:r>
          </a:p>
          <a:p>
            <a:r>
              <a:rPr lang="en-US" b="1" dirty="0"/>
              <a:t>Security is the primary bottleneck in most configurations</a:t>
            </a:r>
            <a:r>
              <a:rPr lang="en-US" dirty="0"/>
              <a:t> </a:t>
            </a:r>
          </a:p>
          <a:p>
            <a:r>
              <a:rPr lang="en-US" dirty="0"/>
              <a:t>Immigration generally secondary unless staffing is reduced </a:t>
            </a:r>
          </a:p>
          <a:p>
            <a:r>
              <a:rPr lang="en-US" dirty="0"/>
              <a:t>Secondary inspections have low frequency but noticeable delay impact</a:t>
            </a:r>
          </a:p>
          <a:p>
            <a:endParaRPr lang="en-US" dirty="0"/>
          </a:p>
          <a:p>
            <a:r>
              <a:rPr lang="en-US" b="1" dirty="0"/>
              <a:t>Key observation:</a:t>
            </a:r>
            <a:endParaRPr lang="en-US" dirty="0"/>
          </a:p>
          <a:p>
            <a:pPr lvl="1"/>
            <a:r>
              <a:rPr lang="en-US" dirty="0"/>
              <a:t>System performance is primarily limited by </a:t>
            </a:r>
            <a:r>
              <a:rPr lang="en-US" b="1" dirty="0"/>
              <a:t>Security processing capacity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0B6FE9-FA22-4B9E-2AF0-CACA35DC4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512" y="1936914"/>
            <a:ext cx="5890964" cy="37898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70279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22E68-63A0-DA9E-DAB0-A58A41BF7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DF311-1F06-E5F3-025D-A2991D1E6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36913"/>
            <a:ext cx="4907071" cy="3789810"/>
          </a:xfrm>
        </p:spPr>
        <p:txBody>
          <a:bodyPr/>
          <a:lstStyle/>
          <a:p>
            <a:r>
              <a:rPr lang="en-US" b="1" dirty="0"/>
              <a:t>Key findings:</a:t>
            </a:r>
            <a:endParaRPr lang="en-US" dirty="0"/>
          </a:p>
          <a:p>
            <a:pPr lvl="1"/>
            <a:r>
              <a:rPr lang="en-US" dirty="0"/>
              <a:t>Holiday scenario causes worst bottlenecks due to volume </a:t>
            </a:r>
          </a:p>
          <a:p>
            <a:pPr lvl="1"/>
            <a:r>
              <a:rPr lang="en-US" dirty="0"/>
              <a:t>High Risk increases delay due to secondary inspections </a:t>
            </a:r>
          </a:p>
          <a:p>
            <a:pPr lvl="1"/>
            <a:r>
              <a:rPr lang="en-US" dirty="0"/>
              <a:t>System does not self-stabilize once queues build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C0CC9D-2235-FFF2-CA80-DC33659BCCAC}"/>
              </a:ext>
            </a:extLst>
          </p:cNvPr>
          <p:cNvSpPr txBox="1"/>
          <p:nvPr/>
        </p:nvSpPr>
        <p:spPr>
          <a:xfrm>
            <a:off x="6012493" y="1705182"/>
            <a:ext cx="2185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Scenario: Default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6B6276-7492-16B2-6B5B-EA43302684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15" t="15616" r="1776" b="69751"/>
          <a:stretch>
            <a:fillRect/>
          </a:stretch>
        </p:blipFill>
        <p:spPr>
          <a:xfrm>
            <a:off x="6096000" y="2074514"/>
            <a:ext cx="4718818" cy="9064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C2E918-51FE-7686-9C9E-D8434325A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3530781"/>
            <a:ext cx="4718818" cy="9218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C3C85C-6B13-C5D7-7D1E-48E627678FE1}"/>
              </a:ext>
            </a:extLst>
          </p:cNvPr>
          <p:cNvSpPr txBox="1"/>
          <p:nvPr/>
        </p:nvSpPr>
        <p:spPr>
          <a:xfrm>
            <a:off x="6012493" y="3161449"/>
            <a:ext cx="2336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Scenario: Peak Holiday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3BDA773-BED2-4068-DDAD-45996CD01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987048"/>
            <a:ext cx="4718818" cy="8679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0E7DA9B-CD66-60A6-3809-668A7E166BB8}"/>
              </a:ext>
            </a:extLst>
          </p:cNvPr>
          <p:cNvSpPr txBox="1"/>
          <p:nvPr/>
        </p:nvSpPr>
        <p:spPr>
          <a:xfrm>
            <a:off x="6012493" y="4617716"/>
            <a:ext cx="2336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Scenario: High Risk</a:t>
            </a:r>
          </a:p>
        </p:txBody>
      </p:sp>
    </p:spTree>
    <p:extLst>
      <p:ext uri="{BB962C8B-B14F-4D97-AF65-F5344CB8AC3E}">
        <p14:creationId xmlns:p14="http://schemas.microsoft.com/office/powerpoint/2010/main" val="1607362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2B0DC-78FA-E04E-BDAD-2F2A95CA1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99B06-352D-408F-75C7-CCE9DCA72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794933"/>
            <a:ext cx="10131425" cy="4513991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Key bottlenecks:</a:t>
            </a:r>
            <a:endParaRPr lang="en-US" dirty="0"/>
          </a:p>
          <a:p>
            <a:pPr lvl="1"/>
            <a:r>
              <a:rPr lang="en-US" dirty="0"/>
              <a:t>Security = main constraint under most conditions </a:t>
            </a:r>
          </a:p>
          <a:p>
            <a:pPr lvl="1"/>
            <a:r>
              <a:rPr lang="en-US" dirty="0"/>
              <a:t>Secondary inspections amplify delays under High Risk </a:t>
            </a:r>
          </a:p>
          <a:p>
            <a:pPr lvl="1"/>
            <a:r>
              <a:rPr lang="en-US" dirty="0"/>
              <a:t>Holiday scenario exposes capacity limits quickly 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Recommendations:</a:t>
            </a:r>
            <a:endParaRPr lang="en-US" dirty="0"/>
          </a:p>
          <a:p>
            <a:pPr lvl="1"/>
            <a:r>
              <a:rPr lang="en-US" dirty="0" err="1"/>
              <a:t>Prioritise</a:t>
            </a:r>
            <a:r>
              <a:rPr lang="en-US" dirty="0"/>
              <a:t> increasing </a:t>
            </a:r>
            <a:r>
              <a:rPr lang="en-US" b="1" dirty="0"/>
              <a:t>Security counter capacity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Add dynamic staffing during peak (Holiday-like) demand </a:t>
            </a:r>
          </a:p>
          <a:p>
            <a:pPr lvl="1"/>
            <a:r>
              <a:rPr lang="en-US" dirty="0"/>
              <a:t>Reduce secondary inspection impact during high congestion periods </a:t>
            </a:r>
          </a:p>
          <a:p>
            <a:pPr lvl="1"/>
            <a:r>
              <a:rPr lang="en-US" dirty="0"/>
              <a:t>Consider adaptive queue/counter scaling for stability </a:t>
            </a:r>
          </a:p>
          <a:p>
            <a:pPr lvl="1"/>
            <a:r>
              <a:rPr lang="en-US" dirty="0"/>
              <a:t>Increase secondary check counters during High-Risk periods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Key takeaway:</a:t>
            </a:r>
            <a:endParaRPr lang="en-US" dirty="0"/>
          </a:p>
          <a:p>
            <a:pPr lvl="1"/>
            <a:r>
              <a:rPr lang="en-US" dirty="0"/>
              <a:t>System performance is primarily constrained by Security capacity, with secondary inspections becoming a major stress amplifier under High-Risk conditions.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2061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76</TotalTime>
  <Words>293</Words>
  <Application>Microsoft Office PowerPoint</Application>
  <PresentationFormat>Widescreen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Celestial</vt:lpstr>
      <vt:lpstr>Problem Overview</vt:lpstr>
      <vt:lpstr>Simulation design &amp; Assumptions</vt:lpstr>
      <vt:lpstr>Baseline System Performance</vt:lpstr>
      <vt:lpstr>Scenario Comparison</vt:lpstr>
      <vt:lpstr>Insights &amp;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Teo Wen Xi</dc:creator>
  <cp:lastModifiedBy>Teo Wen Xi</cp:lastModifiedBy>
  <cp:revision>21</cp:revision>
  <dcterms:created xsi:type="dcterms:W3CDTF">2026-05-30T13:24:10Z</dcterms:created>
  <dcterms:modified xsi:type="dcterms:W3CDTF">2026-05-30T14:40:21Z</dcterms:modified>
</cp:coreProperties>
</file>